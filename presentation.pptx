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eiryo"/>
              </a:rPr>
              <a:t>日越・循環型介護リーダー育成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eiryo"/>
              </a:rPr>
              <a:t>＆事業展開マスター・スケジュール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CCDD"/>
                </a:solidFill>
                <a:latin typeface="Meiryo"/>
              </a:rPr>
              <a:t>ベトナム人材の採用 → 育成 → 国家資格取得 → マネジメント → Uターン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AABB"/>
                </a:solidFill>
                <a:latin typeface="Meiryo"/>
              </a:rPr>
              <a:t>日本とベトナムをつなぐ持続可能な人材・資本の循環モデル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303520"/>
            <a:ext cx="3962095" cy="9144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4864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7788"/>
                </a:solidFill>
                <a:latin typeface="Meiryo"/>
              </a:rPr>
              <a:t>社内限定資料｜Confidential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Meiryo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3657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74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C5E"/>
                </a:solidFill>
                <a:latin typeface="Meiryo"/>
              </a:rPr>
              <a:t>マスター・スケジュール 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A7A9A"/>
                </a:solidFill>
                <a:latin typeface="Meiryo"/>
              </a:rPr>
              <a:t>2026年6月 〜 2038年以降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92608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24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Phase 1（2026.6〜7）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51560"/>
            <a:ext cx="8351215" cy="502920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247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C5E"/>
                </a:solidFill>
                <a:latin typeface="Meiryo"/>
              </a:rPr>
              <a:t>相互視察と基本合意</a:t>
            </a:r>
            <a:r>
              <a:rPr sz="1100" b="0">
                <a:solidFill>
                  <a:srgbClr val="2C2C2C"/>
                </a:solidFill>
                <a:latin typeface="Meiryo"/>
              </a:rPr>
              <a:t>｜OHF様 札幌視察 → 健康会様 ベトナム視察 → MOU締結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292608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Phase 2（2026.8〜2027.3）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09928"/>
            <a:ext cx="8351215" cy="502920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83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C5E"/>
                </a:solidFill>
                <a:latin typeface="Meiryo"/>
              </a:rPr>
              <a:t>法人設立と公的資金申請</a:t>
            </a:r>
            <a:r>
              <a:rPr sz="1100" b="0">
                <a:solidFill>
                  <a:srgbClr val="2C2C2C"/>
                </a:solidFill>
                <a:latin typeface="Meiryo"/>
              </a:rPr>
              <a:t>｜日越JV設立 → 補助金申請（経産省・JICA） → カリキュラム改定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292608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41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Phase 3（2027.4〜2028.3）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368296"/>
            <a:ext cx="8351215" cy="502920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44144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C5E"/>
                </a:solidFill>
                <a:latin typeface="Meiryo"/>
              </a:rPr>
              <a:t>第1期生 教育・インターン</a:t>
            </a:r>
            <a:r>
              <a:rPr sz="1100" b="0">
                <a:solidFill>
                  <a:srgbClr val="2C2C2C"/>
                </a:solidFill>
                <a:latin typeface="Meiryo"/>
              </a:rPr>
              <a:t>｜ベトナムでの事前教育 → 札幌での有給インターン（6ヶ月）→ 帰国・卒業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26664"/>
            <a:ext cx="292608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98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Phase 4（2028夏〜2032頃）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026664"/>
            <a:ext cx="8351215" cy="502920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09981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C5E"/>
                </a:solidFill>
                <a:latin typeface="Meiryo"/>
              </a:rPr>
              <a:t>本採用・国家資格取得</a:t>
            </a:r>
            <a:r>
              <a:rPr sz="1100" b="0">
                <a:solidFill>
                  <a:srgbClr val="2C2C2C"/>
                </a:solidFill>
                <a:latin typeface="Meiryo"/>
              </a:rPr>
              <a:t>｜育成就労/特定技能で再来日 → 実務者研修 → 介護福祉士取得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85032"/>
            <a:ext cx="292608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581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Phase 5（2032〜2038以降）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685032"/>
            <a:ext cx="8351215" cy="502920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75818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C5E"/>
                </a:solidFill>
                <a:latin typeface="Meiryo"/>
              </a:rPr>
              <a:t>マネジメント育成・Uターン</a:t>
            </a:r>
            <a:r>
              <a:rPr sz="1100" b="0">
                <a:solidFill>
                  <a:srgbClr val="2C2C2C"/>
                </a:solidFill>
                <a:latin typeface="Meiryo"/>
              </a:rPr>
              <a:t>｜日本でのマネジメント経験 → ベトナムへ帰国 → 施設長・幹部教員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11277295" cy="685800"/>
          </a:xfrm>
          <a:prstGeom prst="rect">
            <a:avLst/>
          </a:prstGeom>
          <a:solidFill>
            <a:srgbClr val="F0F5FA"/>
          </a:solidFill>
          <a:ln w="12700">
            <a:solidFill>
              <a:srgbClr val="B8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626864"/>
            <a:ext cx="110578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A5A7A"/>
                </a:solidFill>
                <a:latin typeface="Meiryo"/>
              </a:rPr>
              <a:t>本スケジュールのゴール：</a:t>
            </a:r>
            <a:r>
              <a:rPr sz="1000" b="0">
                <a:solidFill>
                  <a:srgbClr val="3A5A7A"/>
                </a:solidFill>
                <a:latin typeface="Meiryo"/>
              </a:rPr>
              <a:t>ベトナムで教育した人材を日本で育て、国家資格・マネジメント経験を積んだ後にベトナムへ還流させる。日越をまたぐ</a:t>
            </a:r>
            <a:r>
              <a:rPr sz="1000" b="1">
                <a:solidFill>
                  <a:srgbClr val="3A5A7A"/>
                </a:solidFill>
                <a:latin typeface="Meiryo"/>
              </a:rPr>
              <a:t>「人材と資本の循環モデル」</a:t>
            </a:r>
            <a:r>
              <a:rPr sz="1000" b="0">
                <a:solidFill>
                  <a:srgbClr val="3A5A7A"/>
                </a:solidFill>
                <a:latin typeface="Meiryo"/>
              </a:rPr>
              <a:t>を構築し、両国の介護課題を同時に解決する。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Meiryo"/>
              </a:rPr>
              <a:t>社内限定資料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AAAA"/>
                </a:solidFill>
                <a:latin typeface="Meiryo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3657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74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C5E"/>
                </a:solidFill>
                <a:latin typeface="Meiryo"/>
              </a:rPr>
              <a:t>相互視察と基本合意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A7A9A"/>
                </a:solidFill>
                <a:latin typeface="Meiryo"/>
              </a:rPr>
              <a:t>2026年6月 〜 7月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6984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2026年6月初旬：OHF様 札幌視察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健康会様の介護施設見学、現場スタッフとの交流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日本側JV</a:t>
            </a:r>
            <a:r>
              <a:rPr sz="1100" b="0">
                <a:solidFill>
                  <a:srgbClr val="2C2C2C"/>
                </a:solidFill>
                <a:latin typeface="Meiryo"/>
              </a:rPr>
              <a:t>の設立協議を開始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受け入れ体制の整備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生活支援・学習サポートに特化した法人を想定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548640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698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2026年7月：健康会様 ベトナム視察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OHF様の学校施設・教育カリキュラムを視察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ベトナム側JV</a:t>
            </a:r>
            <a:r>
              <a:rPr sz="1100" b="0">
                <a:solidFill>
                  <a:srgbClr val="2C2C2C"/>
                </a:solidFill>
                <a:latin typeface="Meiryo"/>
              </a:rPr>
              <a:t>（教育・介護事業特化／税制優遇目的）の設立協議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卒業後の就労手続きを代行する</a:t>
            </a:r>
            <a:r>
              <a:rPr sz="1100" b="1">
                <a:solidFill>
                  <a:srgbClr val="1A3C5E"/>
                </a:solidFill>
                <a:latin typeface="Meiryo"/>
              </a:rPr>
              <a:t>「100%ベトナム内資の送り出し機関」</a:t>
            </a:r>
            <a:r>
              <a:rPr sz="1100" b="0">
                <a:solidFill>
                  <a:srgbClr val="2C2C2C"/>
                </a:solidFill>
                <a:latin typeface="Meiryo"/>
              </a:rPr>
              <a:t>のパートナー選定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11277295" cy="594360"/>
          </a:xfrm>
          <a:prstGeom prst="rect">
            <a:avLst/>
          </a:prstGeom>
          <a:solidFill>
            <a:srgbClr val="FFF8E6"/>
          </a:solidFill>
          <a:ln w="12700">
            <a:solidFill>
              <a:srgbClr val="E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47872"/>
            <a:ext cx="1105783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6D00"/>
                </a:solidFill>
                <a:latin typeface="Meiryo"/>
              </a:rPr>
              <a:t>【重要】</a:t>
            </a:r>
            <a:r>
              <a:rPr sz="1100" b="0">
                <a:solidFill>
                  <a:srgbClr val="5A4A00"/>
                </a:solidFill>
                <a:latin typeface="Meiryo"/>
              </a:rPr>
              <a:t>健康会様とOHFの学校間で</a:t>
            </a:r>
            <a:r>
              <a:rPr sz="1100" b="1">
                <a:solidFill>
                  <a:srgbClr val="8A6D00"/>
                </a:solidFill>
                <a:latin typeface="Meiryo"/>
              </a:rPr>
              <a:t>「インターンシップ基本協定書（MOU）」</a:t>
            </a:r>
            <a:r>
              <a:rPr sz="1100" b="0">
                <a:solidFill>
                  <a:srgbClr val="5A4A00"/>
                </a:solidFill>
                <a:latin typeface="Meiryo"/>
              </a:rPr>
              <a:t>を締結。これが後続のインターンシップ（Phase 3）における在留資格申請の根拠となる。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11277295" cy="502920"/>
          </a:xfrm>
          <a:prstGeom prst="rect">
            <a:avLst/>
          </a:prstGeom>
          <a:solidFill>
            <a:srgbClr val="F0F5FA"/>
          </a:solidFill>
          <a:ln w="12700">
            <a:solidFill>
              <a:srgbClr val="B8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306824"/>
            <a:ext cx="11057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A5A7A"/>
                </a:solidFill>
                <a:latin typeface="Meiryo"/>
              </a:rPr>
              <a:t>ポイント：</a:t>
            </a:r>
            <a:r>
              <a:rPr sz="1000" b="0">
                <a:solidFill>
                  <a:srgbClr val="3A5A7A"/>
                </a:solidFill>
                <a:latin typeface="Meiryo"/>
              </a:rPr>
              <a:t>この段階で日越双方の経営陣が直接現場を確認し、信頼関係を構築することが全体計画の土台となる。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Meiryo"/>
              </a:rPr>
              <a:t>社内限定資料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AAAA"/>
                </a:solidFill>
                <a:latin typeface="Meiryo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3657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74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C5E"/>
                </a:solidFill>
                <a:latin typeface="Meiryo"/>
              </a:rPr>
              <a:t>日越両国での法人設立と公的資金の申請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A7A9A"/>
                </a:solidFill>
                <a:latin typeface="Meiryo"/>
              </a:rPr>
              <a:t>2026年8月 〜 2027年3月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6984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法人設立手続き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日本側JV</a:t>
            </a:r>
            <a:r>
              <a:rPr sz="1100" b="0">
                <a:solidFill>
                  <a:srgbClr val="2C2C2C"/>
                </a:solidFill>
                <a:latin typeface="Meiryo"/>
              </a:rPr>
              <a:t>：法人登記・銀行口座開設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受け入れ・生活支援・学習サポートに特化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ベトナム側JV</a:t>
            </a:r>
            <a:r>
              <a:rPr sz="1100" b="0">
                <a:solidFill>
                  <a:srgbClr val="2C2C2C"/>
                </a:solidFill>
                <a:latin typeface="Meiryo"/>
              </a:rPr>
              <a:t>：法人登記・銀行口座開設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教育・介護事業に特化（税制優遇の活用）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公的資金（補助金）の申請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日本政府（</a:t>
            </a:r>
            <a:r>
              <a:rPr sz="1100" b="1">
                <a:solidFill>
                  <a:srgbClr val="1A3C5E"/>
                </a:solidFill>
                <a:latin typeface="Meiryo"/>
              </a:rPr>
              <a:t>経産省・JICA等</a:t>
            </a:r>
            <a:r>
              <a:rPr sz="1100" b="0">
                <a:solidFill>
                  <a:srgbClr val="2C2C2C"/>
                </a:solidFill>
                <a:latin typeface="Meiryo"/>
              </a:rPr>
              <a:t>）への補助金・助成金の申請準備・提出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名目：ベトナムJVを</a:t>
            </a:r>
            <a:r>
              <a:rPr sz="1100" b="1">
                <a:solidFill>
                  <a:srgbClr val="1A3C5E"/>
                </a:solidFill>
                <a:latin typeface="Meiryo"/>
              </a:rPr>
              <a:t>「日本式介護の教育・実証拠点」</a:t>
            </a:r>
            <a:r>
              <a:rPr sz="1100" b="0">
                <a:solidFill>
                  <a:srgbClr val="2C2C2C"/>
                </a:solidFill>
                <a:latin typeface="Meiryo"/>
              </a:rPr>
              <a:t>として位置づけ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548640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0698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【法対応】インターンシップのカリキュラム改定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2027年からのインターンに向けた重要手続き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OHFの学校側で以下を完了させる：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「日本の健康会での6ヶ月間の実務を正式な単位として認める」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カリキュラム改定手続き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ベトナム国内での承認取得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486400" cy="594360"/>
          </a:xfrm>
          <a:prstGeom prst="rect">
            <a:avLst/>
          </a:prstGeom>
          <a:solidFill>
            <a:srgbClr val="FFF8E6"/>
          </a:solidFill>
          <a:ln w="12700">
            <a:solidFill>
              <a:srgbClr val="E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364992"/>
            <a:ext cx="526694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6D00"/>
                </a:solidFill>
                <a:latin typeface="Meiryo"/>
              </a:rPr>
              <a:t>【注意】</a:t>
            </a:r>
            <a:r>
              <a:rPr sz="1100" b="0">
                <a:solidFill>
                  <a:srgbClr val="5A4A00"/>
                </a:solidFill>
                <a:latin typeface="Meiryo"/>
              </a:rPr>
              <a:t>カリキュラム改定・承認は、Phase 3のインターン開始前に必ず完了していなければならない。スケジュール管理上の最重要タスク。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Meiryo"/>
              </a:rPr>
              <a:t>社内限定資料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AAAA"/>
                </a:solidFill>
                <a:latin typeface="Meiryo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3657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74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C5E"/>
                </a:solidFill>
                <a:latin typeface="Meiryo"/>
              </a:rPr>
              <a:t>第1期生の教育・インターンシップ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A7A9A"/>
                </a:solidFill>
                <a:latin typeface="Meiryo"/>
              </a:rPr>
              <a:t>2027年4月 〜 2028年3月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6984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2027年4月〜7月：ベトナムJVでの事前教育・ビザ申請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ベトナムJV（教育事業）にてOHFの学生向けに特化カリキュラムを提供：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日本式介護技術</a:t>
            </a:r>
            <a:r>
              <a:rPr sz="1100" b="0">
                <a:solidFill>
                  <a:srgbClr val="2C2C2C"/>
                </a:solidFill>
                <a:latin typeface="Meiryo"/>
              </a:rPr>
              <a:t>の教育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日本語</a:t>
            </a:r>
            <a:r>
              <a:rPr sz="1100" b="0">
                <a:solidFill>
                  <a:srgbClr val="2C2C2C"/>
                </a:solidFill>
                <a:latin typeface="Meiryo"/>
              </a:rPr>
              <a:t>の集中講座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候補生の選抜・評価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日本の入管へ在留資格を申請：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「特定活動（告示9号：インターンシップ）」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提出書類：大学の単位取得証明、両社間の協定書（MOU）等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548640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698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2027年8月頃〜2028年1月頃：札幌でのインターン実施（6ヶ月間）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北海道の</a:t>
            </a:r>
            <a:r>
              <a:rPr sz="1100" b="1">
                <a:solidFill>
                  <a:srgbClr val="1A3C5E"/>
                </a:solidFill>
                <a:latin typeface="Meiryo"/>
              </a:rPr>
              <a:t>最低賃金以上</a:t>
            </a:r>
            <a:r>
              <a:rPr sz="1100" b="0">
                <a:solidFill>
                  <a:srgbClr val="2C2C2C"/>
                </a:solidFill>
                <a:latin typeface="Meiryo"/>
              </a:rPr>
              <a:t>を支給する有給インターン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健康会様の現場で実務を通じた</a:t>
            </a:r>
            <a:r>
              <a:rPr sz="1100" b="1">
                <a:solidFill>
                  <a:srgbClr val="1A3C5E"/>
                </a:solidFill>
                <a:latin typeface="Meiryo"/>
              </a:rPr>
              <a:t>単位取得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日本側JVによる手厚いサポート：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生活支援（住居・日用品等）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メンタルヘルスケア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日本語・介護用語のフォローアップ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486400" cy="502920"/>
          </a:xfrm>
          <a:prstGeom prst="rect">
            <a:avLst/>
          </a:prstGeom>
          <a:solidFill>
            <a:srgbClr val="F0F5FA"/>
          </a:solidFill>
          <a:ln w="12700">
            <a:solidFill>
              <a:srgbClr val="B8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712464"/>
            <a:ext cx="5266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A5A7A"/>
                </a:solidFill>
                <a:latin typeface="Meiryo"/>
              </a:rPr>
              <a:t>インターン終了後：</a:t>
            </a:r>
            <a:r>
              <a:rPr sz="1000" b="0">
                <a:solidFill>
                  <a:srgbClr val="3A5A7A"/>
                </a:solidFill>
                <a:latin typeface="Meiryo"/>
              </a:rPr>
              <a:t>学生はベトナムへ帰国し、OHFの学校を卒業。優秀者はPhase 4にて本採用候補となる。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Meiryo"/>
              </a:rPr>
              <a:t>社内限定資料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AAAA"/>
                </a:solidFill>
                <a:latin typeface="Meiryo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3657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74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C5E"/>
                </a:solidFill>
                <a:latin typeface="Meiryo"/>
              </a:rPr>
              <a:t>本採用・国家資格取得フェーズ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A7A9A"/>
                </a:solidFill>
                <a:latin typeface="Meiryo"/>
              </a:rPr>
              <a:t>2028年夏/秋頃 〜 2032年頃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6984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2028年 夏/秋頃〜：本採用・再来日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卒業した優秀層を以下の在留資格で招聘：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「育成就労」</a:t>
            </a:r>
            <a:r>
              <a:rPr sz="1100" b="0">
                <a:solidFill>
                  <a:srgbClr val="2C2C2C"/>
                </a:solidFill>
                <a:latin typeface="Meiryo"/>
              </a:rPr>
              <a:t>または</a:t>
            </a:r>
            <a:r>
              <a:rPr sz="1100" b="1">
                <a:solidFill>
                  <a:srgbClr val="1A3C5E"/>
                </a:solidFill>
                <a:latin typeface="Meiryo"/>
              </a:rPr>
              <a:t>「特定技能1号」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健康会様の</a:t>
            </a:r>
            <a:r>
              <a:rPr sz="1100" b="1">
                <a:solidFill>
                  <a:srgbClr val="1A3C5E"/>
                </a:solidFill>
                <a:latin typeface="Meiryo"/>
              </a:rPr>
              <a:t>正社員として直接雇用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送り出し機関（100%ベトナム内資）が就労手続きを代行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9864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就労1年目〜3年目（2028年〜2031年）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現場でのフルタイム就労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日本側JVが以下のサポートを実施：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実務者研修</a:t>
            </a:r>
            <a:r>
              <a:rPr sz="1100" b="0">
                <a:solidFill>
                  <a:srgbClr val="2C2C2C"/>
                </a:solidFill>
                <a:latin typeface="Meiryo"/>
              </a:rPr>
              <a:t>の受講支援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介護福祉士国家試験に向けた</a:t>
            </a:r>
            <a:r>
              <a:rPr sz="1100" b="1">
                <a:solidFill>
                  <a:srgbClr val="1A3C5E"/>
                </a:solidFill>
                <a:latin typeface="Meiryo"/>
              </a:rPr>
              <a:t>母国語での学習サポート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548640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0698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就労4年目（2032年頃）：介護福祉士 取得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A3C5E"/>
                </a:solidFill>
                <a:latin typeface="Meiryo"/>
              </a:rPr>
              <a:t>介護福祉士（国家資格）</a:t>
            </a:r>
            <a:r>
              <a:rPr sz="1100" b="0">
                <a:solidFill>
                  <a:srgbClr val="2C2C2C"/>
                </a:solidFill>
                <a:latin typeface="Meiryo"/>
              </a:rPr>
              <a:t>の試験合格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在留資格を</a:t>
            </a:r>
            <a:r>
              <a:rPr sz="1100" b="1">
                <a:solidFill>
                  <a:srgbClr val="1A3C5E"/>
                </a:solidFill>
                <a:latin typeface="Meiryo"/>
              </a:rPr>
              <a:t>「介護」</a:t>
            </a:r>
            <a:r>
              <a:rPr sz="1100" b="0">
                <a:solidFill>
                  <a:srgbClr val="2C2C2C"/>
                </a:solidFill>
                <a:latin typeface="Meiryo"/>
              </a:rPr>
              <a:t>へ変更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5486400" cy="914400"/>
          </a:xfrm>
          <a:prstGeom prst="rect">
            <a:avLst/>
          </a:prstGeom>
          <a:solidFill>
            <a:srgbClr val="FFF8E6"/>
          </a:solidFill>
          <a:ln w="12700">
            <a:solidFill>
              <a:srgbClr val="E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450592"/>
            <a:ext cx="52669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6D00"/>
                </a:solidFill>
                <a:latin typeface="Meiryo"/>
              </a:rPr>
              <a:t>【在留資格「介護」のメリット】</a:t>
            </a:r>
            <a:r>
              <a:rPr sz="1100" b="0">
                <a:solidFill>
                  <a:srgbClr val="5A4A00"/>
                </a:solidFill>
                <a:latin typeface="Meiryo"/>
              </a:rPr>
              <a:t>
・在留期間の更新上限が</a:t>
            </a:r>
            <a:r>
              <a:rPr sz="1100" b="1">
                <a:solidFill>
                  <a:srgbClr val="8A6D00"/>
                </a:solidFill>
                <a:latin typeface="Meiryo"/>
              </a:rPr>
              <a:t>撤廃</a:t>
            </a:r>
            <a:r>
              <a:rPr sz="1100" b="0">
                <a:solidFill>
                  <a:srgbClr val="5A4A00"/>
                </a:solidFill>
                <a:latin typeface="Meiryo"/>
              </a:rPr>
              <a:t>される
・</a:t>
            </a:r>
            <a:r>
              <a:rPr sz="1100" b="1">
                <a:solidFill>
                  <a:srgbClr val="8A6D00"/>
                </a:solidFill>
                <a:latin typeface="Meiryo"/>
              </a:rPr>
              <a:t>家族の帯同</a:t>
            </a:r>
            <a:r>
              <a:rPr sz="1100" b="0">
                <a:solidFill>
                  <a:srgbClr val="5A4A00"/>
                </a:solidFill>
                <a:latin typeface="Meiryo"/>
              </a:rPr>
              <a:t>が可能になる
・長期的なキャリア形成の基盤が整う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5486400" cy="594360"/>
          </a:xfrm>
          <a:prstGeom prst="rect">
            <a:avLst/>
          </a:prstGeom>
          <a:solidFill>
            <a:srgbClr val="F0F5FA"/>
          </a:solidFill>
          <a:ln w="12700">
            <a:solidFill>
              <a:srgbClr val="B8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575304"/>
            <a:ext cx="526694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A5A7A"/>
                </a:solidFill>
                <a:latin typeface="Meiryo"/>
              </a:rPr>
              <a:t>Phase 4のゴール：</a:t>
            </a:r>
            <a:r>
              <a:rPr sz="1000" b="0">
                <a:solidFill>
                  <a:srgbClr val="3A5A7A"/>
                </a:solidFill>
                <a:latin typeface="Meiryo"/>
              </a:rPr>
              <a:t>インターンで信頼関係を築いた人材を正社員として迎え、国家資格取得まで一貫してサポートする。「使い捨て」ではない、長期的な人材育成を実現。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Meiryo"/>
              </a:rPr>
              <a:t>社内限定資料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AAAA"/>
                </a:solidFill>
                <a:latin typeface="Meiryo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3657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74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C5E"/>
                </a:solidFill>
                <a:latin typeface="Meiryo"/>
              </a:rPr>
              <a:t>マネジメント育成とベトナムへのUターン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A7A9A"/>
                </a:solidFill>
                <a:latin typeface="Meiryo"/>
              </a:rPr>
              <a:t>2032年以降 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6984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2032年〜2037年頃：日本でのマネジメント育成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介護福祉士として</a:t>
            </a:r>
            <a:r>
              <a:rPr sz="1100" b="1">
                <a:solidFill>
                  <a:srgbClr val="1A3C5E"/>
                </a:solidFill>
                <a:latin typeface="Meiryo"/>
              </a:rPr>
              <a:t>現場を牽引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マネジメント経験の蓄積：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後輩ベトナム人材の</a:t>
            </a:r>
            <a:r>
              <a:rPr sz="1100" b="1">
                <a:solidFill>
                  <a:srgbClr val="1A3C5E"/>
                </a:solidFill>
                <a:latin typeface="Meiryo"/>
              </a:rPr>
              <a:t>指導・教育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施設の</a:t>
            </a:r>
            <a:r>
              <a:rPr sz="1100" b="1">
                <a:solidFill>
                  <a:srgbClr val="1A3C5E"/>
                </a:solidFill>
                <a:latin typeface="Meiryo"/>
              </a:rPr>
              <a:t>シフト管理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チームリーダーとしての運営参画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530352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6440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同時並行：ベトナム側JVの事業拡張準備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事業目的を</a:t>
            </a:r>
            <a:r>
              <a:rPr sz="1100" b="1">
                <a:solidFill>
                  <a:srgbClr val="1A3C5E"/>
                </a:solidFill>
                <a:latin typeface="Meiryo"/>
              </a:rPr>
              <a:t>「教育」→「介護施設の運営」</a:t>
            </a:r>
            <a:r>
              <a:rPr sz="1100" b="0">
                <a:solidFill>
                  <a:srgbClr val="2C2C2C"/>
                </a:solidFill>
                <a:latin typeface="Meiryo"/>
              </a:rPr>
              <a:t>へ拡張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ベトナム国内での介護市場調査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介護施設運営に必要なライセンスの取得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548640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4864" cy="29260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0698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3C5E"/>
                </a:solidFill>
                <a:latin typeface="Meiryo"/>
              </a:rPr>
              <a:t>2038年以降〜：ベトナムへのUターンと事業本格展開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成長した人材がベトナムへ帰国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ベトナム側JVが新設する介護施設の</a:t>
            </a:r>
            <a:r>
              <a:rPr sz="1100" b="1">
                <a:solidFill>
                  <a:srgbClr val="1A3C5E"/>
                </a:solidFill>
                <a:latin typeface="Meiryo"/>
              </a:rPr>
              <a:t>「施設長・事業責任者」</a:t>
            </a:r>
            <a:r>
              <a:rPr sz="1100" b="0">
                <a:solidFill>
                  <a:srgbClr val="2C2C2C"/>
                </a:solidFill>
                <a:latin typeface="Meiryo"/>
              </a:rPr>
              <a:t>として就任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2C2C2C"/>
                </a:solidFill>
                <a:latin typeface="Meiryo"/>
              </a:rPr>
              <a:t>またはOHFの学校の</a:t>
            </a:r>
            <a:r>
              <a:rPr sz="1100" b="1">
                <a:solidFill>
                  <a:srgbClr val="1A3C5E"/>
                </a:solidFill>
                <a:latin typeface="Meiryo"/>
              </a:rPr>
              <a:t>「幹部教員」</a:t>
            </a:r>
            <a:r>
              <a:rPr sz="1100" b="0">
                <a:solidFill>
                  <a:srgbClr val="2C2C2C"/>
                </a:solidFill>
                <a:latin typeface="Meiryo"/>
              </a:rPr>
              <a:t>として教育に還元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5486400" cy="1188720"/>
          </a:xfrm>
          <a:prstGeom prst="rect">
            <a:avLst/>
          </a:prstGeom>
          <a:solidFill>
            <a:srgbClr val="FFF8E6"/>
          </a:solidFill>
          <a:ln w="12700">
            <a:solidFill>
              <a:srgbClr val="E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907792"/>
            <a:ext cx="52669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6D00"/>
                </a:solidFill>
                <a:latin typeface="Meiryo"/>
              </a:rPr>
              <a:t>【循環モデルの完成】</a:t>
            </a:r>
            <a:r>
              <a:rPr sz="1100" b="0">
                <a:solidFill>
                  <a:srgbClr val="5A4A00"/>
                </a:solidFill>
                <a:latin typeface="Meiryo"/>
              </a:rPr>
              <a:t>
日越をまたぐ強固な</a:t>
            </a:r>
            <a:r>
              <a:rPr sz="1100" b="1">
                <a:solidFill>
                  <a:srgbClr val="8A6D00"/>
                </a:solidFill>
                <a:latin typeface="Meiryo"/>
              </a:rPr>
              <a:t>人材と資本の循環モデル</a:t>
            </a:r>
            <a:r>
              <a:rPr sz="1100" b="0">
                <a:solidFill>
                  <a:srgbClr val="5A4A00"/>
                </a:solidFill>
                <a:latin typeface="Meiryo"/>
              </a:rPr>
              <a:t>が完成。
・日本：介護人材不足の解消＋質の高いケアの維持
・ベトナム：高齢化社会への備え＋日本式介護ノウハウの移転
・人材：国家資格＋マネジメント経験を武器にキャリアアップ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Meiryo"/>
              </a:rPr>
              <a:t>社内限定資料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AAAA"/>
                </a:solidFill>
                <a:latin typeface="Meiryo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